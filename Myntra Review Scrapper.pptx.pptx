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46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11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199" y="6857999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267" y="368141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57" y="0"/>
                </a:moveTo>
                <a:lnTo>
                  <a:pt x="0" y="3176586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1475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49" y="6857999"/>
                </a:moveTo>
                <a:lnTo>
                  <a:pt x="0" y="6857999"/>
                </a:lnTo>
                <a:lnTo>
                  <a:pt x="2043009" y="0"/>
                </a:lnTo>
                <a:lnTo>
                  <a:pt x="3007349" y="0"/>
                </a:lnTo>
                <a:lnTo>
                  <a:pt x="3007349" y="6857999"/>
                </a:lnTo>
                <a:close/>
              </a:path>
            </a:pathLst>
          </a:custGeom>
          <a:solidFill>
            <a:srgbClr val="90C126">
              <a:alpha val="2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93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66" y="6857999"/>
                </a:moveTo>
                <a:lnTo>
                  <a:pt x="1207967" y="6857999"/>
                </a:lnTo>
                <a:lnTo>
                  <a:pt x="0" y="0"/>
                </a:lnTo>
                <a:lnTo>
                  <a:pt x="2587066" y="0"/>
                </a:lnTo>
                <a:lnTo>
                  <a:pt x="2587066" y="6857999"/>
                </a:lnTo>
                <a:close/>
              </a:path>
            </a:pathLst>
          </a:custGeom>
          <a:solidFill>
            <a:srgbClr val="90C12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332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667" y="3809999"/>
                </a:moveTo>
                <a:lnTo>
                  <a:pt x="0" y="3809999"/>
                </a:lnTo>
                <a:lnTo>
                  <a:pt x="3259667" y="0"/>
                </a:lnTo>
                <a:lnTo>
                  <a:pt x="3259667" y="3809999"/>
                </a:lnTo>
                <a:close/>
              </a:path>
            </a:pathLst>
          </a:custGeom>
          <a:solidFill>
            <a:srgbClr val="54A021">
              <a:alpha val="7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46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79" y="6857999"/>
                </a:moveTo>
                <a:lnTo>
                  <a:pt x="2467704" y="6857999"/>
                </a:lnTo>
                <a:lnTo>
                  <a:pt x="0" y="0"/>
                </a:lnTo>
                <a:lnTo>
                  <a:pt x="2851279" y="0"/>
                </a:lnTo>
                <a:lnTo>
                  <a:pt x="2851279" y="6857999"/>
                </a:lnTo>
                <a:close/>
              </a:path>
            </a:pathLst>
          </a:custGeom>
          <a:solidFill>
            <a:srgbClr val="3E7818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730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94" y="6857999"/>
                </a:moveTo>
                <a:lnTo>
                  <a:pt x="0" y="6857999"/>
                </a:lnTo>
                <a:lnTo>
                  <a:pt x="1018477" y="0"/>
                </a:lnTo>
                <a:lnTo>
                  <a:pt x="1290094" y="0"/>
                </a:lnTo>
                <a:lnTo>
                  <a:pt x="1290094" y="6857999"/>
                </a:lnTo>
                <a:close/>
              </a:path>
            </a:pathLst>
          </a:custGeom>
          <a:solidFill>
            <a:srgbClr val="BEE471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367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57" y="6857999"/>
                </a:moveTo>
                <a:lnTo>
                  <a:pt x="1108014" y="6857999"/>
                </a:lnTo>
                <a:lnTo>
                  <a:pt x="0" y="0"/>
                </a:lnTo>
                <a:lnTo>
                  <a:pt x="1248457" y="0"/>
                </a:lnTo>
                <a:lnTo>
                  <a:pt x="1248457" y="6857999"/>
                </a:lnTo>
                <a:close/>
              </a:path>
            </a:pathLst>
          </a:custGeom>
          <a:solidFill>
            <a:srgbClr val="90C126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1665" y="3589867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59" y="3268132"/>
                </a:moveTo>
                <a:lnTo>
                  <a:pt x="0" y="3268132"/>
                </a:lnTo>
                <a:lnTo>
                  <a:pt x="1817159" y="0"/>
                </a:lnTo>
                <a:lnTo>
                  <a:pt x="1817159" y="3268132"/>
                </a:lnTo>
                <a:close/>
              </a:path>
            </a:pathLst>
          </a:custGeom>
          <a:solidFill>
            <a:srgbClr val="90C12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842644" cy="5666740"/>
          </a:xfrm>
          <a:custGeom>
            <a:avLst/>
            <a:gdLst/>
            <a:ahLst/>
            <a:cxnLst/>
            <a:rect l="l" t="t" r="r" b="b"/>
            <a:pathLst>
              <a:path w="842644" h="5666740">
                <a:moveTo>
                  <a:pt x="0" y="5666153"/>
                </a:moveTo>
                <a:lnTo>
                  <a:pt x="0" y="0"/>
                </a:lnTo>
                <a:lnTo>
                  <a:pt x="842595" y="0"/>
                </a:lnTo>
                <a:lnTo>
                  <a:pt x="0" y="5666153"/>
                </a:lnTo>
                <a:close/>
              </a:path>
            </a:pathLst>
          </a:custGeom>
          <a:solidFill>
            <a:srgbClr val="90C126">
              <a:alpha val="8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70954" y="2326684"/>
            <a:ext cx="739330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11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199" y="6857999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267" y="368141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57" y="0"/>
                </a:moveTo>
                <a:lnTo>
                  <a:pt x="0" y="3176586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1475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49" y="6857999"/>
                </a:moveTo>
                <a:lnTo>
                  <a:pt x="0" y="6857999"/>
                </a:lnTo>
                <a:lnTo>
                  <a:pt x="2043009" y="0"/>
                </a:lnTo>
                <a:lnTo>
                  <a:pt x="3007349" y="0"/>
                </a:lnTo>
                <a:lnTo>
                  <a:pt x="3007349" y="6857999"/>
                </a:lnTo>
                <a:close/>
              </a:path>
            </a:pathLst>
          </a:custGeom>
          <a:solidFill>
            <a:srgbClr val="90C126">
              <a:alpha val="2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93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66" y="6857999"/>
                </a:moveTo>
                <a:lnTo>
                  <a:pt x="1207967" y="6857999"/>
                </a:lnTo>
                <a:lnTo>
                  <a:pt x="0" y="0"/>
                </a:lnTo>
                <a:lnTo>
                  <a:pt x="2587066" y="0"/>
                </a:lnTo>
                <a:lnTo>
                  <a:pt x="2587066" y="6857999"/>
                </a:lnTo>
                <a:close/>
              </a:path>
            </a:pathLst>
          </a:custGeom>
          <a:solidFill>
            <a:srgbClr val="90C12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332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667" y="3809999"/>
                </a:moveTo>
                <a:lnTo>
                  <a:pt x="0" y="3809999"/>
                </a:lnTo>
                <a:lnTo>
                  <a:pt x="3259667" y="0"/>
                </a:lnTo>
                <a:lnTo>
                  <a:pt x="3259667" y="3809999"/>
                </a:lnTo>
                <a:close/>
              </a:path>
            </a:pathLst>
          </a:custGeom>
          <a:solidFill>
            <a:srgbClr val="54A021">
              <a:alpha val="7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46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79" y="6857999"/>
                </a:moveTo>
                <a:lnTo>
                  <a:pt x="2467704" y="6857999"/>
                </a:lnTo>
                <a:lnTo>
                  <a:pt x="0" y="0"/>
                </a:lnTo>
                <a:lnTo>
                  <a:pt x="2851279" y="0"/>
                </a:lnTo>
                <a:lnTo>
                  <a:pt x="2851279" y="6857999"/>
                </a:lnTo>
                <a:close/>
              </a:path>
            </a:pathLst>
          </a:custGeom>
          <a:solidFill>
            <a:srgbClr val="3E7818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730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94" y="6857999"/>
                </a:moveTo>
                <a:lnTo>
                  <a:pt x="0" y="6857999"/>
                </a:lnTo>
                <a:lnTo>
                  <a:pt x="1018477" y="0"/>
                </a:lnTo>
                <a:lnTo>
                  <a:pt x="1290094" y="0"/>
                </a:lnTo>
                <a:lnTo>
                  <a:pt x="1290094" y="6857999"/>
                </a:lnTo>
                <a:close/>
              </a:path>
            </a:pathLst>
          </a:custGeom>
          <a:solidFill>
            <a:srgbClr val="BEE471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367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57" y="6857999"/>
                </a:moveTo>
                <a:lnTo>
                  <a:pt x="1108014" y="6857999"/>
                </a:lnTo>
                <a:lnTo>
                  <a:pt x="0" y="0"/>
                </a:lnTo>
                <a:lnTo>
                  <a:pt x="1248457" y="0"/>
                </a:lnTo>
                <a:lnTo>
                  <a:pt x="1248457" y="6857999"/>
                </a:lnTo>
                <a:close/>
              </a:path>
            </a:pathLst>
          </a:custGeom>
          <a:solidFill>
            <a:srgbClr val="90C126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1665" y="3589867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59" y="3268132"/>
                </a:moveTo>
                <a:lnTo>
                  <a:pt x="0" y="3268132"/>
                </a:lnTo>
                <a:lnTo>
                  <a:pt x="1817159" y="0"/>
                </a:lnTo>
                <a:lnTo>
                  <a:pt x="1817159" y="3268132"/>
                </a:lnTo>
                <a:close/>
              </a:path>
            </a:pathLst>
          </a:custGeom>
          <a:solidFill>
            <a:srgbClr val="90C12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448732" y="2844799"/>
                </a:moveTo>
                <a:lnTo>
                  <a:pt x="0" y="2844799"/>
                </a:lnTo>
                <a:lnTo>
                  <a:pt x="0" y="0"/>
                </a:lnTo>
                <a:lnTo>
                  <a:pt x="448732" y="2844799"/>
                </a:lnTo>
                <a:close/>
              </a:path>
            </a:pathLst>
          </a:custGeom>
          <a:solidFill>
            <a:srgbClr val="90C126">
              <a:alpha val="8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11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199" y="6857999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267" y="368141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57" y="0"/>
                </a:moveTo>
                <a:lnTo>
                  <a:pt x="0" y="3176586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1475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49" y="6857999"/>
                </a:moveTo>
                <a:lnTo>
                  <a:pt x="0" y="6857999"/>
                </a:lnTo>
                <a:lnTo>
                  <a:pt x="2043009" y="0"/>
                </a:lnTo>
                <a:lnTo>
                  <a:pt x="3007349" y="0"/>
                </a:lnTo>
                <a:lnTo>
                  <a:pt x="3007349" y="6857999"/>
                </a:lnTo>
                <a:close/>
              </a:path>
            </a:pathLst>
          </a:custGeom>
          <a:solidFill>
            <a:srgbClr val="90C126">
              <a:alpha val="2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93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66" y="6857999"/>
                </a:moveTo>
                <a:lnTo>
                  <a:pt x="1207967" y="6857999"/>
                </a:lnTo>
                <a:lnTo>
                  <a:pt x="0" y="0"/>
                </a:lnTo>
                <a:lnTo>
                  <a:pt x="2587066" y="0"/>
                </a:lnTo>
                <a:lnTo>
                  <a:pt x="2587066" y="6857999"/>
                </a:lnTo>
                <a:close/>
              </a:path>
            </a:pathLst>
          </a:custGeom>
          <a:solidFill>
            <a:srgbClr val="90C12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332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667" y="3809999"/>
                </a:moveTo>
                <a:lnTo>
                  <a:pt x="0" y="3809999"/>
                </a:lnTo>
                <a:lnTo>
                  <a:pt x="3259667" y="0"/>
                </a:lnTo>
                <a:lnTo>
                  <a:pt x="3259667" y="3809999"/>
                </a:lnTo>
                <a:close/>
              </a:path>
            </a:pathLst>
          </a:custGeom>
          <a:solidFill>
            <a:srgbClr val="54A021">
              <a:alpha val="7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46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79" y="6857999"/>
                </a:moveTo>
                <a:lnTo>
                  <a:pt x="2467704" y="6857999"/>
                </a:lnTo>
                <a:lnTo>
                  <a:pt x="0" y="0"/>
                </a:lnTo>
                <a:lnTo>
                  <a:pt x="2851279" y="0"/>
                </a:lnTo>
                <a:lnTo>
                  <a:pt x="2851279" y="6857999"/>
                </a:lnTo>
                <a:close/>
              </a:path>
            </a:pathLst>
          </a:custGeom>
          <a:solidFill>
            <a:srgbClr val="3E7818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730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94" y="6857999"/>
                </a:moveTo>
                <a:lnTo>
                  <a:pt x="0" y="6857999"/>
                </a:lnTo>
                <a:lnTo>
                  <a:pt x="1018477" y="0"/>
                </a:lnTo>
                <a:lnTo>
                  <a:pt x="1290094" y="0"/>
                </a:lnTo>
                <a:lnTo>
                  <a:pt x="1290094" y="6857999"/>
                </a:lnTo>
                <a:close/>
              </a:path>
            </a:pathLst>
          </a:custGeom>
          <a:solidFill>
            <a:srgbClr val="BEE471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367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57" y="6857999"/>
                </a:moveTo>
                <a:lnTo>
                  <a:pt x="1108014" y="6857999"/>
                </a:lnTo>
                <a:lnTo>
                  <a:pt x="0" y="0"/>
                </a:lnTo>
                <a:lnTo>
                  <a:pt x="1248457" y="0"/>
                </a:lnTo>
                <a:lnTo>
                  <a:pt x="1248457" y="6857999"/>
                </a:lnTo>
                <a:close/>
              </a:path>
            </a:pathLst>
          </a:custGeom>
          <a:solidFill>
            <a:srgbClr val="90C126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1665" y="3589867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59" y="3268132"/>
                </a:moveTo>
                <a:lnTo>
                  <a:pt x="0" y="3268132"/>
                </a:lnTo>
                <a:lnTo>
                  <a:pt x="1817159" y="0"/>
                </a:lnTo>
                <a:lnTo>
                  <a:pt x="1817159" y="3268132"/>
                </a:lnTo>
                <a:close/>
              </a:path>
            </a:pathLst>
          </a:custGeom>
          <a:solidFill>
            <a:srgbClr val="90C12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7278" y="239599"/>
            <a:ext cx="4568618" cy="712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2618" y="1285681"/>
            <a:ext cx="5212080" cy="3591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Myntra</a:t>
            </a:r>
            <a:r>
              <a:rPr sz="5400" spc="-210" dirty="0"/>
              <a:t> </a:t>
            </a:r>
            <a:r>
              <a:rPr sz="5400" dirty="0"/>
              <a:t>Review</a:t>
            </a:r>
            <a:r>
              <a:rPr sz="5400" spc="-210" dirty="0"/>
              <a:t> </a:t>
            </a:r>
            <a:r>
              <a:rPr sz="5400" spc="-10" dirty="0"/>
              <a:t>Scrapper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8266647" y="4067088"/>
            <a:ext cx="933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7F7F7F"/>
                </a:solidFill>
                <a:latin typeface="Trebuchet MS"/>
                <a:cs typeface="Trebuchet MS"/>
              </a:rPr>
              <a:t>Yash Raj Keshari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914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Project</a:t>
            </a:r>
            <a:r>
              <a:rPr sz="3600" spc="-250" dirty="0"/>
              <a:t> </a:t>
            </a:r>
            <a:r>
              <a:rPr sz="3600" spc="-10" dirty="0"/>
              <a:t>Overview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82083" y="1169758"/>
            <a:ext cx="9552305" cy="378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 marR="417830" indent="-89535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150495" algn="l"/>
              </a:tabLst>
            </a:pP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This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project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Myntra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review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scraper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that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allows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users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extract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analyze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customer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reviews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from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Myntra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 website.</a:t>
            </a:r>
            <a:endParaRPr sz="1800">
              <a:latin typeface="Arial MT"/>
              <a:cs typeface="Arial MT"/>
            </a:endParaRPr>
          </a:p>
          <a:p>
            <a:pPr marL="150495" marR="838835" indent="-89535">
              <a:lnSpc>
                <a:spcPct val="100000"/>
              </a:lnSpc>
              <a:buSzPct val="94444"/>
              <a:buChar char="•"/>
              <a:tabLst>
                <a:tab pos="150495" algn="l"/>
              </a:tabLst>
            </a:pP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scraper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collects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valuable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information,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such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as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product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ratings,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reviews,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user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feedback,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providing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insights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into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customer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sentiments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preferences.</a:t>
            </a:r>
            <a:endParaRPr sz="1800">
              <a:latin typeface="Arial MT"/>
              <a:cs typeface="Arial MT"/>
            </a:endParaRPr>
          </a:p>
          <a:p>
            <a:pPr marL="150495" indent="-146050">
              <a:lnSpc>
                <a:spcPts val="1530"/>
              </a:lnSpc>
              <a:buSzPct val="58333"/>
              <a:buChar char="●"/>
              <a:tabLst>
                <a:tab pos="150495" algn="l"/>
              </a:tabLst>
            </a:pP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Objective:</a:t>
            </a:r>
            <a:r>
              <a:rPr sz="1800" spc="-3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Develop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web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scraper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extract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customer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reviews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ratings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from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Myntra's</a:t>
            </a:r>
            <a:endParaRPr sz="1800">
              <a:latin typeface="Arial MT"/>
              <a:cs typeface="Arial MT"/>
            </a:endParaRPr>
          </a:p>
          <a:p>
            <a:pPr marL="150495">
              <a:lnSpc>
                <a:spcPct val="100000"/>
              </a:lnSpc>
            </a:pP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product</a:t>
            </a:r>
            <a:r>
              <a:rPr sz="1800" spc="-3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pages.</a:t>
            </a:r>
            <a:endParaRPr sz="1800">
              <a:latin typeface="Arial MT"/>
              <a:cs typeface="Arial MT"/>
            </a:endParaRPr>
          </a:p>
          <a:p>
            <a:pPr marL="150495" marR="650240" indent="-146685">
              <a:lnSpc>
                <a:spcPct val="100000"/>
              </a:lnSpc>
              <a:buSzPct val="58333"/>
              <a:buChar char="●"/>
              <a:tabLst>
                <a:tab pos="150495" algn="l"/>
              </a:tabLst>
            </a:pP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Purpose: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Gain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insights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into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customer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sentiments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preferences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inform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 business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decisions.</a:t>
            </a:r>
            <a:r>
              <a:rPr sz="1800" spc="-4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Outcome:</a:t>
            </a:r>
            <a:r>
              <a:rPr sz="1800" spc="-114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</a:t>
            </a:r>
            <a:r>
              <a:rPr sz="1800" spc="-1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structured</a:t>
            </a:r>
            <a:r>
              <a:rPr sz="1800" spc="-3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dataset</a:t>
            </a:r>
            <a:r>
              <a:rPr sz="1800" spc="-3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containing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product</a:t>
            </a:r>
            <a:r>
              <a:rPr sz="1800" spc="-3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reviews,</a:t>
            </a:r>
            <a:r>
              <a:rPr sz="1800" spc="-3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ratings,</a:t>
            </a:r>
            <a:r>
              <a:rPr sz="1800" spc="-3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user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feedback.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1F2328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150495" marR="5080" indent="-146685">
              <a:lnSpc>
                <a:spcPct val="100000"/>
              </a:lnSpc>
              <a:buSzPct val="58333"/>
              <a:buChar char="●"/>
              <a:tabLst>
                <a:tab pos="150495" algn="l"/>
              </a:tabLst>
            </a:pP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Data</a:t>
            </a:r>
            <a:r>
              <a:rPr sz="1800" spc="-4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Source:</a:t>
            </a:r>
            <a:r>
              <a:rPr sz="1800" spc="-4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Myntra's</a:t>
            </a:r>
            <a:r>
              <a:rPr sz="1800" spc="-4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official</a:t>
            </a:r>
            <a:r>
              <a:rPr sz="1800" spc="-4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website.</a:t>
            </a:r>
            <a:r>
              <a:rPr sz="1800" spc="-7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Technologies</a:t>
            </a:r>
            <a:r>
              <a:rPr sz="1800" spc="-4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Used:</a:t>
            </a:r>
            <a:r>
              <a:rPr sz="1800" spc="-4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Python,</a:t>
            </a:r>
            <a:r>
              <a:rPr sz="1800" spc="-4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BeautifulSoup,</a:t>
            </a:r>
            <a:r>
              <a:rPr sz="1800" spc="-4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Requests,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Pandas,</a:t>
            </a:r>
            <a:r>
              <a:rPr sz="1800" spc="-4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Flask/Streamlit.</a:t>
            </a:r>
            <a:endParaRPr sz="1800">
              <a:latin typeface="Arial MT"/>
              <a:cs typeface="Arial MT"/>
            </a:endParaRPr>
          </a:p>
          <a:p>
            <a:pPr marL="150495" marR="10795" indent="-146685">
              <a:lnSpc>
                <a:spcPct val="100000"/>
              </a:lnSpc>
              <a:buSzPct val="58333"/>
              <a:buChar char="●"/>
              <a:tabLst>
                <a:tab pos="150495" algn="l"/>
              </a:tabLst>
            </a:pP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Process</a:t>
            </a:r>
            <a:r>
              <a:rPr sz="1800" spc="-2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Flow: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User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inputs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product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URL.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Scraper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fetches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parses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webpage.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Extracted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data</a:t>
            </a:r>
            <a:r>
              <a:rPr sz="1800" spc="-3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cleaned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stored.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Data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presented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user-friendly</a:t>
            </a:r>
            <a:r>
              <a:rPr sz="1800" spc="-15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format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014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40"/>
              </a:spcBef>
            </a:pPr>
            <a:r>
              <a:rPr b="1" spc="-10" dirty="0">
                <a:solidFill>
                  <a:srgbClr val="1F2328"/>
                </a:solidFill>
                <a:latin typeface="Arial"/>
                <a:cs typeface="Arial"/>
              </a:rPr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368" y="1215170"/>
            <a:ext cx="8529955" cy="42265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b="1" dirty="0">
                <a:solidFill>
                  <a:srgbClr val="3E3E3E"/>
                </a:solidFill>
                <a:latin typeface="Trebuchet MS"/>
                <a:cs typeface="Trebuchet MS"/>
              </a:rPr>
              <a:t>System</a:t>
            </a:r>
            <a:r>
              <a:rPr sz="1800" b="1" spc="-9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Trebuchet MS"/>
                <a:cs typeface="Trebuchet MS"/>
              </a:rPr>
              <a:t>Requirements</a:t>
            </a:r>
            <a:endParaRPr sz="1800" dirty="0">
              <a:latin typeface="Trebuchet MS"/>
              <a:cs typeface="Trebuchet MS"/>
            </a:endParaRPr>
          </a:p>
          <a:p>
            <a:pPr marL="354965" indent="-31496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7777"/>
              <a:buFont typeface="Arial"/>
              <a:buChar char="•"/>
              <a:tabLst>
                <a:tab pos="354965" algn="l"/>
              </a:tabLst>
            </a:pPr>
            <a:r>
              <a:rPr sz="1800" b="1" dirty="0">
                <a:solidFill>
                  <a:srgbClr val="3E3E3E"/>
                </a:solidFill>
                <a:latin typeface="Trebuchet MS"/>
                <a:cs typeface="Trebuchet MS"/>
              </a:rPr>
              <a:t>Python</a:t>
            </a:r>
            <a:r>
              <a:rPr sz="1800" b="1" spc="-8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Trebuchet MS"/>
                <a:cs typeface="Trebuchet MS"/>
              </a:rPr>
              <a:t>Version:</a:t>
            </a:r>
            <a:r>
              <a:rPr sz="1800" b="1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Trebuchet MS"/>
                <a:cs typeface="Trebuchet MS"/>
              </a:rPr>
              <a:t>3.10</a:t>
            </a:r>
            <a:endParaRPr sz="1800" dirty="0">
              <a:latin typeface="Trebuchet MS"/>
              <a:cs typeface="Trebuchet MS"/>
            </a:endParaRPr>
          </a:p>
          <a:p>
            <a:pPr marL="354965" indent="-31496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7777"/>
              <a:buFont typeface="Arial"/>
              <a:buChar char="•"/>
              <a:tabLst>
                <a:tab pos="354965" algn="l"/>
              </a:tabLst>
            </a:pPr>
            <a:r>
              <a:rPr sz="1800" b="1" spc="-20" dirty="0">
                <a:solidFill>
                  <a:srgbClr val="3E3E3E"/>
                </a:solidFill>
                <a:latin typeface="Trebuchet MS"/>
                <a:cs typeface="Trebuchet MS"/>
              </a:rPr>
              <a:t>Package</a:t>
            </a:r>
            <a:r>
              <a:rPr sz="1800" b="1" spc="-11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E3E3E"/>
                </a:solidFill>
                <a:latin typeface="Trebuchet MS"/>
                <a:cs typeface="Trebuchet MS"/>
              </a:rPr>
              <a:t>Manager:</a:t>
            </a:r>
            <a:r>
              <a:rPr sz="1800" b="1" spc="-9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Conda</a:t>
            </a:r>
            <a:endParaRPr sz="1800" dirty="0">
              <a:latin typeface="Trebuchet MS"/>
              <a:cs typeface="Trebuchet MS"/>
            </a:endParaRPr>
          </a:p>
          <a:p>
            <a:pPr marL="354965" indent="-31496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7777"/>
              <a:buFont typeface="Arial"/>
              <a:buChar char="•"/>
              <a:tabLst>
                <a:tab pos="354965" algn="l"/>
              </a:tabLst>
            </a:pPr>
            <a:r>
              <a:rPr sz="1800" b="1" dirty="0">
                <a:solidFill>
                  <a:srgbClr val="3E3E3E"/>
                </a:solidFill>
                <a:latin typeface="Trebuchet MS"/>
                <a:cs typeface="Trebuchet MS"/>
              </a:rPr>
              <a:t>Required</a:t>
            </a:r>
            <a:r>
              <a:rPr sz="1800" b="1" spc="-12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Trebuchet MS"/>
                <a:cs typeface="Trebuchet MS"/>
              </a:rPr>
              <a:t>Libraries:</a:t>
            </a:r>
            <a:endParaRPr sz="1800" dirty="0">
              <a:latin typeface="Trebuchet MS"/>
              <a:cs typeface="Trebuchet MS"/>
            </a:endParaRPr>
          </a:p>
          <a:p>
            <a:pPr marL="755015" lvl="1" indent="-260985">
              <a:lnSpc>
                <a:spcPct val="100000"/>
              </a:lnSpc>
              <a:spcBef>
                <a:spcPts val="1005"/>
              </a:spcBef>
              <a:buClr>
                <a:srgbClr val="90C126"/>
              </a:buClr>
              <a:buSzPct val="78125"/>
              <a:buFont typeface="Arial MT"/>
              <a:buChar char="•"/>
              <a:tabLst>
                <a:tab pos="755015" algn="l"/>
              </a:tabLst>
            </a:pPr>
            <a:r>
              <a:rPr sz="1600" spc="-10" dirty="0">
                <a:solidFill>
                  <a:srgbClr val="3E3E3E"/>
                </a:solidFill>
                <a:latin typeface="Trebuchet MS"/>
                <a:cs typeface="Trebuchet MS"/>
              </a:rPr>
              <a:t>requests</a:t>
            </a:r>
            <a:endParaRPr sz="1600" dirty="0">
              <a:latin typeface="Trebuchet MS"/>
              <a:cs typeface="Trebuchet MS"/>
            </a:endParaRPr>
          </a:p>
          <a:p>
            <a:pPr marL="755015" lvl="1" indent="-260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125"/>
              <a:buFont typeface="Arial MT"/>
              <a:buChar char="•"/>
              <a:tabLst>
                <a:tab pos="755015" algn="l"/>
              </a:tabLst>
            </a:pPr>
            <a:r>
              <a:rPr sz="1600" spc="-10" dirty="0">
                <a:solidFill>
                  <a:srgbClr val="3E3E3E"/>
                </a:solidFill>
                <a:latin typeface="Trebuchet MS"/>
                <a:cs typeface="Trebuchet MS"/>
              </a:rPr>
              <a:t>beautifulsoup4</a:t>
            </a:r>
            <a:endParaRPr sz="1600" dirty="0">
              <a:latin typeface="Trebuchet MS"/>
              <a:cs typeface="Trebuchet MS"/>
            </a:endParaRPr>
          </a:p>
          <a:p>
            <a:pPr marL="755015" lvl="1" indent="-260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125"/>
              <a:buFont typeface="Arial MT"/>
              <a:buChar char="•"/>
              <a:tabLst>
                <a:tab pos="755015" algn="l"/>
              </a:tabLst>
            </a:pPr>
            <a:r>
              <a:rPr sz="1600" spc="-10" dirty="0">
                <a:solidFill>
                  <a:srgbClr val="3E3E3E"/>
                </a:solidFill>
                <a:latin typeface="Trebuchet MS"/>
                <a:cs typeface="Trebuchet MS"/>
              </a:rPr>
              <a:t>pandas</a:t>
            </a:r>
            <a:endParaRPr sz="1600" dirty="0">
              <a:latin typeface="Trebuchet MS"/>
              <a:cs typeface="Trebuchet MS"/>
            </a:endParaRPr>
          </a:p>
          <a:p>
            <a:pPr marL="755015" lvl="1" indent="-260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125"/>
              <a:buFont typeface="Arial MT"/>
              <a:buChar char="•"/>
              <a:tabLst>
                <a:tab pos="755015" algn="l"/>
              </a:tabLst>
            </a:pPr>
            <a:r>
              <a:rPr sz="1600" spc="-10" dirty="0">
                <a:solidFill>
                  <a:srgbClr val="3E3E3E"/>
                </a:solidFill>
                <a:latin typeface="Trebuchet MS"/>
                <a:cs typeface="Trebuchet MS"/>
              </a:rPr>
              <a:t>Flask/streamlit</a:t>
            </a:r>
            <a:endParaRPr sz="1600" dirty="0">
              <a:latin typeface="Trebuchet MS"/>
              <a:cs typeface="Trebuchet MS"/>
            </a:endParaRPr>
          </a:p>
          <a:p>
            <a:pPr marL="755015" lvl="1" indent="-260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125"/>
              <a:buFont typeface="Arial MT"/>
              <a:buChar char="•"/>
              <a:tabLst>
                <a:tab pos="755015" algn="l"/>
              </a:tabLst>
            </a:pPr>
            <a:r>
              <a:rPr sz="1600" spc="-10" dirty="0">
                <a:solidFill>
                  <a:srgbClr val="3E3E3E"/>
                </a:solidFill>
                <a:latin typeface="Trebuchet MS"/>
                <a:cs typeface="Trebuchet MS"/>
              </a:rPr>
              <a:t>gunicorn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14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397000" algn="l"/>
              </a:tabLst>
            </a:pP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GitHub</a:t>
            </a:r>
            <a:r>
              <a:rPr sz="1800" spc="-30" dirty="0">
                <a:solidFill>
                  <a:srgbClr val="1F232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328"/>
                </a:solidFill>
                <a:latin typeface="Arial MT"/>
                <a:cs typeface="Arial MT"/>
              </a:rPr>
              <a:t>Link:</a:t>
            </a:r>
            <a:r>
              <a:rPr sz="1800" dirty="0">
                <a:solidFill>
                  <a:srgbClr val="1F2328"/>
                </a:solidFill>
                <a:latin typeface="Arial MT"/>
                <a:cs typeface="Arial MT"/>
              </a:rPr>
              <a:t>	</a:t>
            </a:r>
            <a:r>
              <a:rPr lang="en-IN" sz="1800" u="heavy" spc="-10">
                <a:solidFill>
                  <a:srgbClr val="1F2328"/>
                </a:solidFill>
                <a:uFill>
                  <a:solidFill>
                    <a:srgbClr val="1F2328"/>
                  </a:solidFill>
                </a:uFill>
                <a:latin typeface="Arial MT"/>
                <a:cs typeface="Arial MT"/>
              </a:rPr>
              <a:t>https://github.com/yashrajkeshari/myntra-review-scrapper.git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711" rIns="0" bIns="0" rtlCol="0">
            <a:spAutoFit/>
          </a:bodyPr>
          <a:lstStyle/>
          <a:p>
            <a:pPr marL="358140">
              <a:lnSpc>
                <a:spcPct val="100000"/>
              </a:lnSpc>
              <a:spcBef>
                <a:spcPts val="140"/>
              </a:spcBef>
            </a:pPr>
            <a:r>
              <a:rPr dirty="0"/>
              <a:t>Implementation</a:t>
            </a:r>
            <a:r>
              <a:rPr spc="165" dirty="0"/>
              <a:t> </a:t>
            </a:r>
            <a:r>
              <a:rPr spc="-10" dirty="0"/>
              <a:t>Steps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indent="-92075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92710" algn="l"/>
              </a:tabLst>
            </a:pPr>
            <a:r>
              <a:rPr dirty="0"/>
              <a:t>Setup</a:t>
            </a:r>
            <a:r>
              <a:rPr spc="-25" dirty="0"/>
              <a:t> </a:t>
            </a:r>
            <a:r>
              <a:rPr spc="-10" dirty="0"/>
              <a:t>Environment:</a:t>
            </a: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b="0" dirty="0">
                <a:latin typeface="Arial MT"/>
                <a:cs typeface="Arial MT"/>
              </a:rPr>
              <a:t>Clone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repository.</a:t>
            </a: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b="0" dirty="0">
                <a:latin typeface="Arial MT"/>
                <a:cs typeface="Arial MT"/>
              </a:rPr>
              <a:t>Create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activate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Conda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environment.</a:t>
            </a: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dirty="0"/>
              <a:t>Install</a:t>
            </a:r>
            <a:r>
              <a:rPr spc="-35" dirty="0"/>
              <a:t> </a:t>
            </a:r>
            <a:r>
              <a:rPr spc="-10" dirty="0"/>
              <a:t>Dependencies:</a:t>
            </a: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b="0" dirty="0">
                <a:latin typeface="Arial MT"/>
                <a:cs typeface="Arial MT"/>
              </a:rPr>
              <a:t>Run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sz="1000" b="0" dirty="0">
                <a:latin typeface="Arial MT"/>
                <a:cs typeface="Arial MT"/>
              </a:rPr>
              <a:t>pip</a:t>
            </a:r>
            <a:r>
              <a:rPr sz="1000" b="0" spc="-15" dirty="0">
                <a:latin typeface="Arial MT"/>
                <a:cs typeface="Arial MT"/>
              </a:rPr>
              <a:t> </a:t>
            </a:r>
            <a:r>
              <a:rPr sz="1000" b="0" dirty="0">
                <a:latin typeface="Arial MT"/>
                <a:cs typeface="Arial MT"/>
              </a:rPr>
              <a:t>install</a:t>
            </a:r>
            <a:r>
              <a:rPr sz="1000" b="0" spc="-15" dirty="0">
                <a:latin typeface="Arial MT"/>
                <a:cs typeface="Arial MT"/>
              </a:rPr>
              <a:t> </a:t>
            </a:r>
            <a:r>
              <a:rPr sz="1000" b="0" spc="-10" dirty="0">
                <a:latin typeface="Arial MT"/>
                <a:cs typeface="Arial MT"/>
              </a:rPr>
              <a:t>-</a:t>
            </a:r>
            <a:r>
              <a:rPr sz="1000" b="0" dirty="0">
                <a:latin typeface="Arial MT"/>
                <a:cs typeface="Arial MT"/>
              </a:rPr>
              <a:t>r</a:t>
            </a:r>
            <a:r>
              <a:rPr sz="1000" b="0" spc="-15" dirty="0">
                <a:latin typeface="Arial MT"/>
                <a:cs typeface="Arial MT"/>
              </a:rPr>
              <a:t> </a:t>
            </a:r>
            <a:r>
              <a:rPr sz="1000" b="0" spc="-10" dirty="0">
                <a:latin typeface="Arial MT"/>
                <a:cs typeface="Arial MT"/>
              </a:rPr>
              <a:t>requirements.txt</a:t>
            </a:r>
            <a:r>
              <a:rPr sz="800" b="0" spc="-10" dirty="0">
                <a:latin typeface="Trebuchet MS"/>
                <a:cs typeface="Trebuchet MS"/>
              </a:rPr>
              <a:t>.</a:t>
            </a:r>
            <a:endParaRPr sz="800">
              <a:latin typeface="Trebuchet MS"/>
              <a:cs typeface="Trebuchet MS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dirty="0"/>
              <a:t>Run</a:t>
            </a:r>
            <a:r>
              <a:rPr spc="-125" dirty="0"/>
              <a:t> </a:t>
            </a:r>
            <a:r>
              <a:rPr spc="-10" dirty="0"/>
              <a:t>Application:</a:t>
            </a: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b="0" dirty="0">
                <a:latin typeface="Arial MT"/>
                <a:cs typeface="Arial MT"/>
              </a:rPr>
              <a:t>Execute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sz="1000" b="0" dirty="0">
                <a:latin typeface="Arial MT"/>
                <a:cs typeface="Arial MT"/>
              </a:rPr>
              <a:t>python</a:t>
            </a:r>
            <a:r>
              <a:rPr sz="1000" b="0" spc="-30" dirty="0">
                <a:latin typeface="Arial MT"/>
                <a:cs typeface="Arial MT"/>
              </a:rPr>
              <a:t> </a:t>
            </a:r>
            <a:r>
              <a:rPr sz="1000" b="0" dirty="0">
                <a:latin typeface="Arial MT"/>
                <a:cs typeface="Arial MT"/>
              </a:rPr>
              <a:t>app.py</a:t>
            </a:r>
            <a:r>
              <a:rPr sz="1000" b="0" spc="-55" dirty="0">
                <a:latin typeface="Arial MT"/>
                <a:cs typeface="Arial MT"/>
              </a:rPr>
              <a:t> </a:t>
            </a:r>
            <a:r>
              <a:rPr sz="800" b="0" dirty="0">
                <a:latin typeface="Trebuchet MS"/>
                <a:cs typeface="Trebuchet MS"/>
              </a:rPr>
              <a:t>to</a:t>
            </a:r>
            <a:r>
              <a:rPr sz="800" b="0" spc="-25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start</a:t>
            </a:r>
            <a:r>
              <a:rPr sz="800" b="0" spc="-25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the</a:t>
            </a:r>
            <a:r>
              <a:rPr sz="800" b="0" spc="-25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Flask</a:t>
            </a:r>
            <a:r>
              <a:rPr sz="800" b="0" spc="-20" dirty="0">
                <a:latin typeface="Trebuchet MS"/>
                <a:cs typeface="Trebuchet MS"/>
              </a:rPr>
              <a:t> </a:t>
            </a:r>
            <a:r>
              <a:rPr sz="800" b="0" spc="-25" dirty="0">
                <a:latin typeface="Trebuchet MS"/>
                <a:cs typeface="Trebuchet MS"/>
              </a:rPr>
              <a:t>server. </a:t>
            </a:r>
            <a:r>
              <a:rPr sz="800" b="0" dirty="0">
                <a:latin typeface="Trebuchet MS"/>
                <a:cs typeface="Trebuchet MS"/>
              </a:rPr>
              <a:t>streamlit</a:t>
            </a:r>
            <a:r>
              <a:rPr sz="800" b="0" spc="-25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run</a:t>
            </a:r>
            <a:r>
              <a:rPr sz="800" b="0" spc="-20" dirty="0">
                <a:latin typeface="Trebuchet MS"/>
                <a:cs typeface="Trebuchet MS"/>
              </a:rPr>
              <a:t> </a:t>
            </a:r>
            <a:r>
              <a:rPr sz="800" b="0" spc="-10" dirty="0">
                <a:latin typeface="Trebuchet MS"/>
                <a:cs typeface="Trebuchet MS"/>
              </a:rPr>
              <a:t>app.py</a:t>
            </a:r>
            <a:r>
              <a:rPr sz="800" b="0" spc="-25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for</a:t>
            </a:r>
            <a:r>
              <a:rPr sz="800" b="0" spc="-25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starting</a:t>
            </a:r>
            <a:r>
              <a:rPr sz="800" b="0" spc="-25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Streamlit</a:t>
            </a:r>
            <a:r>
              <a:rPr sz="800" b="0" spc="-20" dirty="0">
                <a:latin typeface="Trebuchet MS"/>
                <a:cs typeface="Trebuchet MS"/>
              </a:rPr>
              <a:t> </a:t>
            </a:r>
            <a:r>
              <a:rPr sz="800" b="0" spc="-10" dirty="0">
                <a:latin typeface="Trebuchet MS"/>
                <a:cs typeface="Trebuchet MS"/>
              </a:rPr>
              <a:t>server</a:t>
            </a:r>
            <a:endParaRPr sz="800">
              <a:latin typeface="Trebuchet MS"/>
              <a:cs typeface="Trebuchet MS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dirty="0"/>
              <a:t>Access</a:t>
            </a:r>
            <a:r>
              <a:rPr spc="-40" dirty="0"/>
              <a:t> </a:t>
            </a:r>
            <a:r>
              <a:rPr spc="-10" dirty="0"/>
              <a:t>Interface:</a:t>
            </a: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b="0" dirty="0">
                <a:latin typeface="Arial MT"/>
                <a:cs typeface="Arial MT"/>
              </a:rPr>
              <a:t>Navigate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sz="1000" b="0" spc="-10" dirty="0">
                <a:latin typeface="Arial MT"/>
                <a:cs typeface="Arial MT"/>
                <a:hlinkClick r:id="rId2"/>
              </a:rPr>
              <a:t>http://localhost:5000</a:t>
            </a:r>
            <a:r>
              <a:rPr sz="1000" b="0" spc="-50" dirty="0">
                <a:latin typeface="Arial MT"/>
                <a:cs typeface="Arial MT"/>
              </a:rPr>
              <a:t> </a:t>
            </a:r>
            <a:r>
              <a:rPr sz="800" b="0" dirty="0">
                <a:latin typeface="Trebuchet MS"/>
                <a:cs typeface="Trebuchet MS"/>
              </a:rPr>
              <a:t>in</a:t>
            </a:r>
            <a:r>
              <a:rPr sz="800" b="0" spc="-10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your</a:t>
            </a:r>
            <a:r>
              <a:rPr sz="800" b="0" spc="-15" dirty="0">
                <a:latin typeface="Trebuchet MS"/>
                <a:cs typeface="Trebuchet MS"/>
              </a:rPr>
              <a:t> </a:t>
            </a:r>
            <a:r>
              <a:rPr sz="800" b="0" spc="-25" dirty="0">
                <a:latin typeface="Trebuchet MS"/>
                <a:cs typeface="Trebuchet MS"/>
              </a:rPr>
              <a:t>browser.</a:t>
            </a:r>
            <a:r>
              <a:rPr sz="800" b="0" spc="-10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(Flask)</a:t>
            </a:r>
            <a:r>
              <a:rPr sz="800" b="0" spc="-10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but</a:t>
            </a:r>
            <a:r>
              <a:rPr sz="800" b="0" spc="-15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port</a:t>
            </a:r>
            <a:r>
              <a:rPr sz="800" b="0" spc="-10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8501</a:t>
            </a:r>
            <a:r>
              <a:rPr sz="800" b="0" spc="-10" dirty="0">
                <a:latin typeface="Trebuchet MS"/>
                <a:cs typeface="Trebuchet MS"/>
              </a:rPr>
              <a:t> </a:t>
            </a:r>
            <a:r>
              <a:rPr sz="800" b="0" dirty="0">
                <a:latin typeface="Trebuchet MS"/>
                <a:cs typeface="Trebuchet MS"/>
              </a:rPr>
              <a:t>for</a:t>
            </a:r>
            <a:r>
              <a:rPr sz="800" b="0" spc="-15" dirty="0">
                <a:latin typeface="Trebuchet MS"/>
                <a:cs typeface="Trebuchet MS"/>
              </a:rPr>
              <a:t> </a:t>
            </a:r>
            <a:r>
              <a:rPr sz="800" b="0" spc="-10" dirty="0">
                <a:latin typeface="Trebuchet MS"/>
                <a:cs typeface="Trebuchet MS"/>
              </a:rPr>
              <a:t>streamlit</a:t>
            </a:r>
            <a:endParaRPr sz="800">
              <a:latin typeface="Trebuchet MS"/>
              <a:cs typeface="Trebuchet MS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dirty="0"/>
              <a:t>Input</a:t>
            </a:r>
            <a:r>
              <a:rPr spc="-50" dirty="0"/>
              <a:t> </a:t>
            </a:r>
            <a:r>
              <a:rPr spc="-20" dirty="0"/>
              <a:t>URL:</a:t>
            </a: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b="0" dirty="0">
                <a:latin typeface="Arial MT"/>
                <a:cs typeface="Arial MT"/>
              </a:rPr>
              <a:t>Enter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Myntra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product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URL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scrape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reviews.</a:t>
            </a: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dirty="0"/>
              <a:t>View</a:t>
            </a:r>
            <a:r>
              <a:rPr spc="-50" dirty="0"/>
              <a:t> </a:t>
            </a:r>
            <a:r>
              <a:rPr spc="-10" dirty="0"/>
              <a:t>Results:</a:t>
            </a: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b="0" dirty="0">
                <a:latin typeface="Arial MT"/>
                <a:cs typeface="Arial MT"/>
              </a:rPr>
              <a:t>Scraped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data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is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displayed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can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be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downloaded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40"/>
              </a:spcBef>
            </a:pPr>
            <a:r>
              <a:rPr dirty="0"/>
              <a:t>Libraries</a:t>
            </a:r>
            <a:r>
              <a:rPr spc="-5" dirty="0"/>
              <a:t> </a:t>
            </a:r>
            <a:r>
              <a:rPr dirty="0"/>
              <a:t>for the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0826" y="1022073"/>
            <a:ext cx="6975475" cy="359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requests: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Handles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HTTP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requests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fetch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pages.</a:t>
            </a:r>
            <a:endParaRPr sz="1800">
              <a:latin typeface="Arial MT"/>
              <a:cs typeface="Arial MT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b="1" spc="-10" dirty="0">
                <a:latin typeface="Arial"/>
                <a:cs typeface="Arial"/>
              </a:rPr>
              <a:t>beautifulsoup4: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Parses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HTML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extract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b="1" dirty="0">
                <a:latin typeface="Arial"/>
                <a:cs typeface="Arial"/>
              </a:rPr>
              <a:t>pandas: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Structures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manipulates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analysis.</a:t>
            </a:r>
            <a:endParaRPr sz="1800">
              <a:latin typeface="Arial MT"/>
              <a:cs typeface="Arial MT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b="1" dirty="0">
                <a:latin typeface="Arial"/>
                <a:cs typeface="Arial"/>
              </a:rPr>
              <a:t>Flask/streamlit: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Creates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interface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</a:t>
            </a:r>
            <a:r>
              <a:rPr sz="1800" spc="-10" dirty="0">
                <a:latin typeface="Arial MT"/>
                <a:cs typeface="Arial MT"/>
              </a:rPr>
              <a:t> interaction.</a:t>
            </a:r>
            <a:endParaRPr sz="1800">
              <a:latin typeface="Arial MT"/>
              <a:cs typeface="Arial MT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b="1" dirty="0">
                <a:latin typeface="Arial"/>
                <a:cs typeface="Arial"/>
              </a:rPr>
              <a:t>gunicorn: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Serves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Flask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application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environments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>
              <a:latin typeface="Arial MT"/>
              <a:cs typeface="Arial MT"/>
            </a:endParaRPr>
          </a:p>
          <a:p>
            <a:pPr marL="9271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Extraction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Process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dirty="0">
                <a:latin typeface="Arial MT"/>
                <a:cs typeface="Arial MT"/>
              </a:rPr>
              <a:t>User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Myntra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URL.</a:t>
            </a:r>
            <a:endParaRPr sz="1800">
              <a:latin typeface="Arial MT"/>
              <a:cs typeface="Arial MT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dirty="0">
                <a:latin typeface="Arial MT"/>
                <a:cs typeface="Arial MT"/>
              </a:rPr>
              <a:t>HTTP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Request: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Fetches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page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content.</a:t>
            </a:r>
            <a:endParaRPr sz="1800">
              <a:latin typeface="Arial MT"/>
              <a:cs typeface="Arial MT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spc="-10" dirty="0">
                <a:latin typeface="Arial MT"/>
                <a:cs typeface="Arial MT"/>
              </a:rPr>
              <a:t>HTML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Parsing: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Identifies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extracts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review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sections.</a:t>
            </a:r>
            <a:endParaRPr sz="1800">
              <a:latin typeface="Arial MT"/>
              <a:cs typeface="Arial MT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Cleaning: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Removes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unnecessary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characters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formats</a:t>
            </a:r>
            <a:r>
              <a:rPr sz="1800" spc="-10" dirty="0">
                <a:latin typeface="Arial MT"/>
                <a:cs typeface="Arial MT"/>
              </a:rPr>
              <a:t> data.</a:t>
            </a:r>
            <a:endParaRPr sz="1800">
              <a:latin typeface="Arial MT"/>
              <a:cs typeface="Arial MT"/>
            </a:endParaRPr>
          </a:p>
          <a:p>
            <a:pPr marL="92710" indent="-92075">
              <a:lnSpc>
                <a:spcPct val="100000"/>
              </a:lnSpc>
              <a:buSzPct val="94444"/>
              <a:buChar char="•"/>
              <a:tabLst>
                <a:tab pos="92710" algn="l"/>
              </a:tabLst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Storage: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Organizes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structured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format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20" dirty="0">
                <a:latin typeface="Arial MT"/>
                <a:cs typeface="Arial MT"/>
              </a:rPr>
              <a:t> CSV)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78" y="367285"/>
            <a:ext cx="199517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647" y="886033"/>
            <a:ext cx="9803765" cy="49885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100"/>
              </a:spcBef>
            </a:pPr>
            <a:r>
              <a:rPr sz="1800" b="1" dirty="0">
                <a:solidFill>
                  <a:srgbClr val="3E3E3E"/>
                </a:solidFill>
                <a:latin typeface="Trebuchet MS"/>
                <a:cs typeface="Trebuchet MS"/>
              </a:rPr>
              <a:t>Benefits</a:t>
            </a:r>
            <a:r>
              <a:rPr sz="1800" b="1" spc="-10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Trebuchet MS"/>
                <a:cs typeface="Trebuchet MS"/>
              </a:rPr>
              <a:t>and</a:t>
            </a:r>
            <a:r>
              <a:rPr sz="1800" b="1" spc="-12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Trebuchet MS"/>
                <a:cs typeface="Trebuchet MS"/>
              </a:rPr>
              <a:t>Applications</a:t>
            </a:r>
            <a:endParaRPr sz="1800">
              <a:latin typeface="Trebuchet MS"/>
              <a:cs typeface="Trebuchet MS"/>
            </a:endParaRPr>
          </a:p>
          <a:p>
            <a:pPr marL="400685" marR="304800" indent="-38862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7777"/>
              <a:buFont typeface="Lucida Sans Unicode"/>
              <a:buChar char="►"/>
              <a:tabLst>
                <a:tab pos="400685" algn="l"/>
              </a:tabLst>
            </a:pP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Customer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Insights: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Understand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customer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satisfaction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areas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of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improvement.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Product Development: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Inform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design</a:t>
            </a:r>
            <a:r>
              <a:rPr sz="1800" spc="-5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feature</a:t>
            </a:r>
            <a:r>
              <a:rPr sz="1800" spc="-5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enhancements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based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on</a:t>
            </a:r>
            <a:r>
              <a:rPr sz="1800" spc="-5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feedback.</a:t>
            </a:r>
            <a:endParaRPr sz="1800">
              <a:latin typeface="Trebuchet MS"/>
              <a:cs typeface="Trebuchet MS"/>
            </a:endParaRPr>
          </a:p>
          <a:p>
            <a:pPr marL="400685" marR="5080" indent="-38862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7777"/>
              <a:buFont typeface="Lucida Sans Unicode"/>
              <a:buChar char="►"/>
              <a:tabLst>
                <a:tab pos="400685" algn="l"/>
              </a:tabLst>
            </a:pP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Marketing</a:t>
            </a:r>
            <a:r>
              <a:rPr sz="1800" spc="-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Strategies:</a:t>
            </a:r>
            <a:r>
              <a:rPr sz="1800" spc="-11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3E3E3E"/>
                </a:solidFill>
                <a:latin typeface="Trebuchet MS"/>
                <a:cs typeface="Trebuchet MS"/>
              </a:rPr>
              <a:t>Tailor</a:t>
            </a:r>
            <a:r>
              <a:rPr sz="1800" spc="-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campaigns</a:t>
            </a:r>
            <a:r>
              <a:rPr sz="1800" spc="-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to</a:t>
            </a:r>
            <a:r>
              <a:rPr sz="1800" spc="-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address</a:t>
            </a:r>
            <a:r>
              <a:rPr sz="1800" spc="-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common</a:t>
            </a:r>
            <a:r>
              <a:rPr sz="1800" spc="-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customer</a:t>
            </a:r>
            <a:r>
              <a:rPr sz="1800" spc="-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concerns.</a:t>
            </a:r>
            <a:r>
              <a:rPr sz="1800" spc="-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Competitive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Analysis:</a:t>
            </a:r>
            <a:r>
              <a:rPr sz="1800" spc="-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Benchmark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against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competitors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by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analyzing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similar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  <a:p>
            <a:pPr marL="57785">
              <a:lnSpc>
                <a:spcPct val="100000"/>
              </a:lnSpc>
              <a:spcBef>
                <a:spcPts val="1000"/>
              </a:spcBef>
            </a:pPr>
            <a:r>
              <a:rPr sz="1800" b="1" spc="-10" dirty="0">
                <a:solidFill>
                  <a:srgbClr val="3E3E3E"/>
                </a:solidFill>
                <a:latin typeface="Trebuchet MS"/>
                <a:cs typeface="Trebuchet MS"/>
              </a:rPr>
              <a:t>Future</a:t>
            </a:r>
            <a:r>
              <a:rPr sz="1800" b="1" spc="-10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Trebuchet MS"/>
                <a:cs typeface="Trebuchet MS"/>
              </a:rPr>
              <a:t>Enhancements</a:t>
            </a:r>
            <a:endParaRPr sz="1800">
              <a:latin typeface="Trebuchet MS"/>
              <a:cs typeface="Trebuchet MS"/>
            </a:endParaRPr>
          </a:p>
          <a:p>
            <a:pPr marL="400685" indent="-31496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7777"/>
              <a:buFont typeface="Arial"/>
              <a:buChar char="•"/>
              <a:tabLst>
                <a:tab pos="400685" algn="l"/>
              </a:tabLst>
            </a:pPr>
            <a:r>
              <a:rPr sz="1800" b="1" spc="-20" dirty="0">
                <a:solidFill>
                  <a:srgbClr val="3E3E3E"/>
                </a:solidFill>
                <a:latin typeface="Trebuchet MS"/>
                <a:cs typeface="Trebuchet MS"/>
              </a:rPr>
              <a:t>Sentiment</a:t>
            </a:r>
            <a:r>
              <a:rPr sz="1800" b="1" spc="-114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E3E3E"/>
                </a:solidFill>
                <a:latin typeface="Trebuchet MS"/>
                <a:cs typeface="Trebuchet MS"/>
              </a:rPr>
              <a:t>Analysis:</a:t>
            </a:r>
            <a:r>
              <a:rPr sz="1800" b="1" spc="-5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Integrate</a:t>
            </a:r>
            <a:r>
              <a:rPr sz="1800" spc="-4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NLP</a:t>
            </a:r>
            <a:r>
              <a:rPr sz="1800" spc="-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techniques</a:t>
            </a:r>
            <a:r>
              <a:rPr sz="1800" spc="-4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gauge</a:t>
            </a:r>
            <a:r>
              <a:rPr sz="1800" spc="-4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overall</a:t>
            </a:r>
            <a:r>
              <a:rPr sz="1800" spc="-4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sentiment.</a:t>
            </a:r>
            <a:endParaRPr sz="1800">
              <a:latin typeface="Trebuchet MS"/>
              <a:cs typeface="Trebuchet MS"/>
            </a:endParaRPr>
          </a:p>
          <a:p>
            <a:pPr marL="400685" indent="-31496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7777"/>
              <a:buFont typeface="Arial"/>
              <a:buChar char="•"/>
              <a:tabLst>
                <a:tab pos="400685" algn="l"/>
              </a:tabLst>
            </a:pPr>
            <a:r>
              <a:rPr sz="1800" b="1" dirty="0">
                <a:solidFill>
                  <a:srgbClr val="3E3E3E"/>
                </a:solidFill>
                <a:latin typeface="Trebuchet MS"/>
                <a:cs typeface="Trebuchet MS"/>
              </a:rPr>
              <a:t>Automation:</a:t>
            </a:r>
            <a:r>
              <a:rPr sz="1800" b="1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Schedule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regular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scraping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for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continuous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data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updates.</a:t>
            </a:r>
            <a:endParaRPr sz="1800">
              <a:latin typeface="Trebuchet MS"/>
              <a:cs typeface="Trebuchet MS"/>
            </a:endParaRPr>
          </a:p>
          <a:p>
            <a:pPr marL="400685" indent="-31496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7777"/>
              <a:buFont typeface="Arial"/>
              <a:buChar char="•"/>
              <a:tabLst>
                <a:tab pos="400685" algn="l"/>
              </a:tabLst>
            </a:pPr>
            <a:r>
              <a:rPr sz="1800" b="1" dirty="0">
                <a:solidFill>
                  <a:srgbClr val="3E3E3E"/>
                </a:solidFill>
                <a:latin typeface="Trebuchet MS"/>
                <a:cs typeface="Trebuchet MS"/>
              </a:rPr>
              <a:t>Data</a:t>
            </a:r>
            <a:r>
              <a:rPr sz="1800" b="1" spc="-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E3E3E"/>
                </a:solidFill>
                <a:latin typeface="Trebuchet MS"/>
                <a:cs typeface="Trebuchet MS"/>
              </a:rPr>
              <a:t>Visualization:</a:t>
            </a:r>
            <a:r>
              <a:rPr sz="1800" b="1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Implement</a:t>
            </a:r>
            <a:r>
              <a:rPr sz="1800" spc="-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dashboards</a:t>
            </a:r>
            <a:r>
              <a:rPr sz="1800" spc="-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to</a:t>
            </a:r>
            <a:r>
              <a:rPr sz="1800" spc="-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visualize</a:t>
            </a:r>
            <a:r>
              <a:rPr sz="1800" spc="-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trends</a:t>
            </a:r>
            <a:r>
              <a:rPr sz="1800" spc="-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patterns.</a:t>
            </a:r>
            <a:endParaRPr sz="1800">
              <a:latin typeface="Trebuchet MS"/>
              <a:cs typeface="Trebuchet MS"/>
            </a:endParaRPr>
          </a:p>
          <a:p>
            <a:pPr marL="400685" indent="-31496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7777"/>
              <a:buFont typeface="Arial"/>
              <a:buChar char="•"/>
              <a:tabLst>
                <a:tab pos="400685" algn="l"/>
              </a:tabLst>
            </a:pPr>
            <a:r>
              <a:rPr sz="1800" b="1" spc="-10" dirty="0">
                <a:solidFill>
                  <a:srgbClr val="3E3E3E"/>
                </a:solidFill>
                <a:latin typeface="Trebuchet MS"/>
                <a:cs typeface="Trebuchet MS"/>
              </a:rPr>
              <a:t>Scalability:</a:t>
            </a:r>
            <a:r>
              <a:rPr sz="1800" b="1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Extend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scraper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to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other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Trebuchet MS"/>
                <a:cs typeface="Trebuchet MS"/>
              </a:rPr>
              <a:t>e-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commerce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platforms.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800">
              <a:latin typeface="Trebuchet MS"/>
              <a:cs typeface="Trebuchet MS"/>
            </a:endParaRPr>
          </a:p>
          <a:p>
            <a:pPr marL="57785" marR="1597660">
              <a:lnSpc>
                <a:spcPct val="146300"/>
              </a:lnSpc>
              <a:spcBef>
                <a:spcPts val="5"/>
              </a:spcBef>
            </a:pP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Recap: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Developed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tool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to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extract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and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analyze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customer</a:t>
            </a:r>
            <a:r>
              <a:rPr sz="1800" spc="-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reviews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from</a:t>
            </a:r>
            <a:r>
              <a:rPr sz="1800" spc="-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Myntra.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Impact: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Provides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valuable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insights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for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product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E3E3E"/>
                </a:solidFill>
                <a:latin typeface="Trebuchet MS"/>
                <a:cs typeface="Trebuchet MS"/>
              </a:rPr>
              <a:t>business</a:t>
            </a:r>
            <a:r>
              <a:rPr sz="1800" spc="-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rebuchet MS"/>
                <a:cs typeface="Trebuchet MS"/>
              </a:rPr>
              <a:t>strategy.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507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MT</vt:lpstr>
      <vt:lpstr>Lucida Sans Unicode</vt:lpstr>
      <vt:lpstr>Trebuchet MS</vt:lpstr>
      <vt:lpstr>Office Theme</vt:lpstr>
      <vt:lpstr>Myntra Review Scrapper</vt:lpstr>
      <vt:lpstr>Project Overview</vt:lpstr>
      <vt:lpstr>Requirements</vt:lpstr>
      <vt:lpstr>Implementation Steps</vt:lpstr>
      <vt:lpstr>Libraries for the Project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ppt_Myntra Review Scrapper.pptx</dc:title>
  <cp:lastModifiedBy>Yash Raj Keshari</cp:lastModifiedBy>
  <cp:revision>2</cp:revision>
  <dcterms:created xsi:type="dcterms:W3CDTF">2026-01-03T18:25:10Z</dcterms:created>
  <dcterms:modified xsi:type="dcterms:W3CDTF">2026-01-03T18:26:49Z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2026-01-03T00:00:00Z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2026-01-03T00:00:00Z</vt:filetime>
  </property>
</Properties>
</file>